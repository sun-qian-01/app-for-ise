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7D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45720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《软件工程导论》课程结项汇报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83464"/>
            <a:ext cx="1600200" cy="292608"/>
          </a:xfrm>
          <a:prstGeom prst="roundRect">
            <a:avLst/>
          </a:prstGeom>
          <a:solidFill>
            <a:srgbClr val="B88536"/>
          </a:solidFill>
          <a:ln w="12700">
            <a:solidFill>
              <a:srgbClr val="B88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8 分钟展示版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8869680" cy="51206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581427"/>
                </a:solidFill>
                <a:latin typeface="Microsoft YaHei"/>
              </a:rPr>
              <a:t>学院学生综合服务与党团管理平台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31136"/>
            <a:ext cx="7680960" cy="34747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724"/>
                </a:solidFill>
                <a:latin typeface="Microsoft YaHei"/>
              </a:rPr>
              <a:t>一站式学生服务 · 党团流程管理 · 智能政策问答 · 精准通知与审批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182112"/>
            <a:ext cx="2331720" cy="9875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0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364992"/>
            <a:ext cx="1975104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Web 管理端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03320"/>
            <a:ext cx="1975104" cy="2286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96159"/>
                </a:solidFill>
                <a:latin typeface="Microsoft YaHei"/>
              </a:rPr>
              <a:t>Vue 3 + Vite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7" y="3182112"/>
            <a:ext cx="2331720" cy="9875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0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3364992"/>
            <a:ext cx="1975104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后端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703320"/>
            <a:ext cx="1975104" cy="2286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96159"/>
                </a:solidFill>
                <a:latin typeface="Microsoft YaHei"/>
              </a:rPr>
              <a:t>Spring Boot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0448" y="3182112"/>
            <a:ext cx="2331720" cy="9875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0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3364992"/>
            <a:ext cx="1975104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智能问答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3703320"/>
            <a:ext cx="1975104" cy="2286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96159"/>
                </a:solidFill>
                <a:latin typeface="Microsoft YaHei"/>
              </a:rPr>
              <a:t>RAG / Codex-first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0767" y="3182112"/>
            <a:ext cx="2331720" cy="9875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0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7" y="3364992"/>
            <a:ext cx="1975104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自动化测试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7" y="3703320"/>
            <a:ext cx="1975104" cy="2286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96159"/>
                </a:solidFill>
                <a:latin typeface="Microsoft YaHei"/>
              </a:rPr>
              <a:t>104 cases 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669280"/>
            <a:ext cx="77724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A2724"/>
                </a:solidFill>
                <a:latin typeface="Microsoft YaHei"/>
              </a:rPr>
              <a:t>团队成员：孙谦，田家铭，刘凡硕，林靖涛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016752"/>
            <a:ext cx="77724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96159"/>
                </a:solidFill>
                <a:latin typeface="Microsoft YaHei"/>
              </a:rPr>
              <a:t>日期：2026 年 6 月 30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汇报路线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530352" cy="310896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09344"/>
            <a:ext cx="192024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项目概述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627632"/>
            <a:ext cx="667512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解决学院学生服务和党团管理的分散问题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04288"/>
            <a:ext cx="530352" cy="310896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67712"/>
            <a:ext cx="192024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功能完成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286000"/>
            <a:ext cx="667512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核心闭环与扩展能力当前状态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62656"/>
            <a:ext cx="530352" cy="310896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26079"/>
            <a:ext cx="192024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设计方案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944368"/>
            <a:ext cx="667512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前后端分离、模块化单体、权限和数据范围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21023"/>
            <a:ext cx="530352" cy="310896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84447"/>
            <a:ext cx="192024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进度协作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602735"/>
            <a:ext cx="667512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从需求原型到全栈 MVP 的迭代路径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79391"/>
            <a:ext cx="530352" cy="310896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42816"/>
            <a:ext cx="192024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开发测试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4261103"/>
            <a:ext cx="667512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关键功能、自动化测试、缺陷修复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37759"/>
            <a:ext cx="530352" cy="310896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01183"/>
            <a:ext cx="192024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工具与总结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919471"/>
            <a:ext cx="667512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大模型使用、问题经验、后续计划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项目定位：把分散事务收敛到统一平台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5029200" cy="3657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服务对象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29968"/>
            <a:ext cx="493776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57984"/>
            <a:ext cx="1234440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普通学生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57984"/>
            <a:ext cx="2999232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个人画像、通知、党团进度、申请办理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43200"/>
            <a:ext cx="493776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871216"/>
            <a:ext cx="1234440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班团骨干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71216"/>
            <a:ext cx="2999232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授权范围内成员进展与催办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456432"/>
            <a:ext cx="493776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84448"/>
            <a:ext cx="1234440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管理老师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584448"/>
            <a:ext cx="2999232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学生画像、知识库、通知、审批、日志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9664"/>
            <a:ext cx="493776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97680"/>
            <a:ext cx="1234440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学院领导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297680"/>
            <a:ext cx="2999232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学院汇总看板与运行态势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536192"/>
            <a:ext cx="4389120" cy="3657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核心目标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093976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2048256"/>
            <a:ext cx="41422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724"/>
                </a:solidFill>
                <a:latin typeface="Microsoft YaHei"/>
              </a:rPr>
              <a:t>学生事务线上化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532888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487168"/>
            <a:ext cx="41422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724"/>
                </a:solidFill>
                <a:latin typeface="Microsoft YaHei"/>
              </a:rPr>
              <a:t>政策咨询智能化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971800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926080"/>
            <a:ext cx="41422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724"/>
                </a:solidFill>
                <a:latin typeface="Microsoft YaHei"/>
              </a:rPr>
              <a:t>党团流程可视化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410712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1422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724"/>
                </a:solidFill>
                <a:latin typeface="Microsoft YaHei"/>
              </a:rPr>
              <a:t>通知推送精准化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49624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3803904"/>
            <a:ext cx="41422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724"/>
                </a:solidFill>
                <a:latin typeface="Microsoft YaHei"/>
              </a:rPr>
              <a:t>业务操作可追溯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0528" y="4617720"/>
            <a:ext cx="1325880" cy="1005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1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764024"/>
            <a:ext cx="996695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7D1C37"/>
                </a:solidFill>
                <a:latin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321808"/>
            <a:ext cx="996695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A2724"/>
                </a:solidFill>
                <a:latin typeface="Microsoft YaHei"/>
              </a:rPr>
              <a:t>核心角色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617720"/>
            <a:ext cx="1325880" cy="1005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1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4764024"/>
            <a:ext cx="996695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06997"/>
                </a:solidFill>
                <a:latin typeface="Microsoft YaHei"/>
              </a:rPr>
              <a:t>10+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5321808"/>
            <a:ext cx="996695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A2724"/>
                </a:solidFill>
                <a:latin typeface="Microsoft YaHei"/>
              </a:rPr>
              <a:t>业务模块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74352" y="4617720"/>
            <a:ext cx="1325880" cy="1005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1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38944" y="4764024"/>
            <a:ext cx="996695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B88536"/>
                </a:solidFill>
                <a:latin typeface="Microsoft YaHei"/>
              </a:rPr>
              <a:t>1200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5321808"/>
            <a:ext cx="996695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A2724"/>
                </a:solidFill>
                <a:latin typeface="Microsoft YaHei"/>
              </a:rPr>
              <a:t>目标学生规模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当前交付物：从原型推进到可演示全栈项目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645920"/>
            <a:ext cx="2880360" cy="14447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2423160" cy="31089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需求与设计文档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31136"/>
            <a:ext cx="2423160" cy="6217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README / architecture / API / DB / 权限 / 字典 / 设计文档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45920"/>
            <a:ext cx="2880360" cy="14447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810512"/>
            <a:ext cx="2423160" cy="31089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正式 Web 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31136"/>
            <a:ext cx="2423160" cy="6217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Vue 3 + Vite + Router + Pinia + Axios，学生端与管理端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1645920"/>
            <a:ext cx="2880360" cy="14447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810512"/>
            <a:ext cx="2423160" cy="31089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后端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31136"/>
            <a:ext cx="2423160" cy="6217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Spring Boot REST API，认证、学生、知识库、党团、通知、申请等模块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3657600"/>
            <a:ext cx="2880360" cy="14447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22191"/>
            <a:ext cx="2423160" cy="31089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本地数据库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42816"/>
            <a:ext cx="2423160" cy="6217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H2 开发与测试库，结构对齐 Kingbase/PostgreSQL 兼容设计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657600"/>
            <a:ext cx="2880360" cy="14447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822191"/>
            <a:ext cx="2423160" cy="31089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移动端演示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4242816"/>
            <a:ext cx="2423160" cy="6217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微信小程序学生端基础版，覆盖高频入口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6992" y="3657600"/>
            <a:ext cx="2880360" cy="14447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822191"/>
            <a:ext cx="2423160" cy="31089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81427"/>
                </a:solidFill>
                <a:latin typeface="Microsoft YaHei"/>
              </a:rPr>
              <a:t>测试与部署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242816"/>
            <a:ext cx="2423160" cy="6217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Surefire 测试报告、Vite 构建、运行包和校园网部署脚本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功能满足性：核心业务闭环已具备演示能力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5230368" cy="4160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627632"/>
            <a:ext cx="5230368" cy="4160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438912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已完成 / 核心闭环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47088"/>
            <a:ext cx="438912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部分实现 / 后续增强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2395728"/>
            <a:ext cx="658368" cy="219456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完全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86584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多角色登录与权限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2871216"/>
            <a:ext cx="658368" cy="219456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完全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862072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学生端首页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346704"/>
            <a:ext cx="658368" cy="219456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完全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37560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管理端首页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822191"/>
            <a:ext cx="658368" cy="219456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核心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813048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院内申请与审批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4297679"/>
            <a:ext cx="658368" cy="219456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核心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88536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知识库与智能问答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773167"/>
            <a:ext cx="658368" cy="219456"/>
          </a:xfrm>
          <a:prstGeom prst="roundRect">
            <a:avLst/>
          </a:prstGeom>
          <a:solidFill>
            <a:srgbClr val="B88536"/>
          </a:solidFill>
          <a:ln w="12700">
            <a:solidFill>
              <a:srgbClr val="B88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基本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3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文件上传下载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9672" y="2395728"/>
            <a:ext cx="658368" cy="219456"/>
          </a:xfrm>
          <a:prstGeom prst="roundRect">
            <a:avLst/>
          </a:prstGeom>
          <a:solidFill>
            <a:srgbClr val="C2682C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部分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386584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学生画像与信息管理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2871216"/>
            <a:ext cx="658368" cy="219456"/>
          </a:xfrm>
          <a:prstGeom prst="roundRect">
            <a:avLst/>
          </a:prstGeom>
          <a:solidFill>
            <a:srgbClr val="B88536"/>
          </a:solidFill>
          <a:ln w="12700">
            <a:solidFill>
              <a:srgbClr val="B88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基本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862072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党团事务流程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9672" y="3346704"/>
            <a:ext cx="658368" cy="219456"/>
          </a:xfrm>
          <a:prstGeom prst="roundRect">
            <a:avLst/>
          </a:prstGeom>
          <a:solidFill>
            <a:srgbClr val="C2682C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部分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337560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精准通知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9672" y="3822191"/>
            <a:ext cx="658368" cy="219456"/>
          </a:xfrm>
          <a:prstGeom prst="roundRect">
            <a:avLst/>
          </a:prstGeom>
          <a:solidFill>
            <a:srgbClr val="C2682C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813048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奖励荣誉展示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9672" y="4297679"/>
            <a:ext cx="658368" cy="219456"/>
          </a:xfrm>
          <a:prstGeom prst="roundRect">
            <a:avLst/>
          </a:prstGeom>
          <a:solidFill>
            <a:srgbClr val="C2682C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288536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审计日志与系统日志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9672" y="4773167"/>
            <a:ext cx="658368" cy="219456"/>
          </a:xfrm>
          <a:prstGeom prst="roundRect">
            <a:avLst/>
          </a:prstGeom>
          <a:solidFill>
            <a:srgbClr val="C2682C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部分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764023"/>
            <a:ext cx="251460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A2724"/>
                </a:solidFill>
                <a:latin typeface="Microsoft YaHei"/>
              </a:rPr>
              <a:t>微信小程序演示版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96159"/>
                </a:solidFill>
                <a:latin typeface="Microsoft YaHei"/>
              </a:rPr>
              <a:t>说明：完整后台版本管理、真实邮件/微信发送、Kingbase 生产迁移和日志自动落库属于后续增强项。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总体架构：前后端分离 + 模块化单体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45920"/>
            <a:ext cx="1065276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856232"/>
            <a:ext cx="1170432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用户层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874519"/>
            <a:ext cx="882396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普通学生 / 班团骨干 / 管理老师 / 学院领导 / 系统管理员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97480"/>
            <a:ext cx="1065276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2907792"/>
            <a:ext cx="1170432" cy="292608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前端层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926080"/>
            <a:ext cx="882396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Vue Web 前端 · 路由守卫 · Pinia 登录态 · Axios API Client · 小程序演示端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749039"/>
            <a:ext cx="1065276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3959352"/>
            <a:ext cx="1170432" cy="292608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后端层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3977639"/>
            <a:ext cx="882396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Spring Boot REST API (/api/v1) · 统一响应 · 鉴权过滤器 · 全局异常处理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800600"/>
            <a:ext cx="1065276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5010912"/>
            <a:ext cx="1170432" cy="292608"/>
          </a:xfrm>
          <a:prstGeom prst="roundRect">
            <a:avLst/>
          </a:prstGeom>
          <a:solidFill>
            <a:srgbClr val="B88536"/>
          </a:solidFill>
          <a:ln w="12700">
            <a:solidFill>
              <a:srgbClr val="B88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业务模块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5029200"/>
            <a:ext cx="882396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认证 / 学生画像 / 知识库 / 党团 / 通知 / 申请 / 文件 / 荣誉 / 日志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852160"/>
            <a:ext cx="10652760" cy="47548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6062472"/>
            <a:ext cx="1170432" cy="292608"/>
          </a:xfrm>
          <a:prstGeom prst="roundRect">
            <a:avLst/>
          </a:prstGeom>
          <a:solidFill>
            <a:srgbClr val="696159"/>
          </a:solidFill>
          <a:ln w="12700">
            <a:solidFill>
              <a:srgbClr val="696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数据与部署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6080760"/>
            <a:ext cx="882396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H2 开发测试库 · Kingbase 兼容设计 · 文件资源 · Nginx + systemd 部署脚本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CORE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核心功能示例一：知识库与 RAG 智能问答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99339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084831"/>
            <a:ext cx="457200" cy="25603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029968"/>
            <a:ext cx="1078992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学生提问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1591056" cy="43891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支持连续追问和历史上下文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615184"/>
            <a:ext cx="292608" cy="0"/>
          </a:xfrm>
          <a:prstGeom prst="line">
            <a:avLst/>
          </a:prstGeom>
          <a:ln w="25400"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44368" y="1901952"/>
            <a:ext cx="199339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2084831"/>
            <a:ext cx="457200" cy="25603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029968"/>
            <a:ext cx="1078992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知识检索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514600"/>
            <a:ext cx="1591056" cy="43891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优先检索已发布知识条目和模板附件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2615184"/>
            <a:ext cx="292608" cy="0"/>
          </a:xfrm>
          <a:prstGeom prst="line">
            <a:avLst/>
          </a:prstGeom>
          <a:ln w="25400"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30368" y="1901952"/>
            <a:ext cx="199339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59" y="2084831"/>
            <a:ext cx="457200" cy="25603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029968"/>
            <a:ext cx="1078992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RAG 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514600"/>
            <a:ext cx="1591056" cy="43891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Codex-first，失败降级 Responses API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23760" y="2615184"/>
            <a:ext cx="292607" cy="0"/>
          </a:xfrm>
          <a:prstGeom prst="line">
            <a:avLst/>
          </a:prstGeom>
          <a:ln w="25400"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16367" y="1901952"/>
            <a:ext cx="199339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80959" y="2084831"/>
            <a:ext cx="457200" cy="25603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029968"/>
            <a:ext cx="1078992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兜底策略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7" y="2514600"/>
            <a:ext cx="1591056" cy="43891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关键词匹配 / 低置信度提示 / 未检索到依据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09759" y="2615184"/>
            <a:ext cx="292608" cy="0"/>
          </a:xfrm>
          <a:prstGeom prst="line">
            <a:avLst/>
          </a:prstGeom>
          <a:ln w="25400"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02367" y="1901952"/>
            <a:ext cx="199339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66959" y="2084831"/>
            <a:ext cx="457200" cy="25603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33888" y="2029968"/>
            <a:ext cx="1078992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1427"/>
                </a:solidFill>
                <a:latin typeface="Microsoft YaHei"/>
              </a:rPr>
              <a:t>来源展示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7" y="2514600"/>
            <a:ext cx="1591056" cy="43891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返回 sources，学生可追溯答案依据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4078224"/>
            <a:ext cx="10469880" cy="1143000"/>
          </a:xfrm>
          <a:prstGeom prst="roundRect">
            <a:avLst/>
          </a:prstGeom>
          <a:solidFill>
            <a:srgbClr val="FFFAEF"/>
          </a:solidFill>
          <a:ln w="12700">
            <a:solidFill>
              <a:srgbClr val="E6D9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1" y="4279392"/>
            <a:ext cx="978408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设计原则：有来源优先，无依据不编造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709160"/>
            <a:ext cx="9528048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当 Codex、向量库或模型接口不可用时，系统自动降级，保证演示主流程稳定。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CORE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核心功能示例二：院内申请与审批状态机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65960"/>
            <a:ext cx="1600200" cy="7680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12264"/>
            <a:ext cx="141732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7D1C37"/>
                </a:solidFill>
                <a:latin typeface="Microsoft YaHei"/>
              </a:rPr>
              <a:t>提交申请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04872"/>
            <a:ext cx="1417320" cy="1645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96159"/>
                </a:solidFill>
                <a:latin typeface="Microsoft YaHei"/>
              </a:rPr>
              <a:t>submitted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965960"/>
            <a:ext cx="1600200" cy="7680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112264"/>
            <a:ext cx="141732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7D1C37"/>
                </a:solidFill>
                <a:latin typeface="Microsoft YaHei"/>
              </a:rPr>
              <a:t>审核中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04872"/>
            <a:ext cx="1417320" cy="1645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96159"/>
                </a:solidFill>
                <a:latin typeface="Microsoft YaHei"/>
              </a:rPr>
              <a:t>reviewing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325880"/>
            <a:ext cx="1600200" cy="7680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1472184"/>
            <a:ext cx="141732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E8956"/>
                </a:solidFill>
                <a:latin typeface="Microsoft YaHei"/>
              </a:rPr>
              <a:t>审批通过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764792"/>
            <a:ext cx="1417320" cy="1645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96159"/>
                </a:solidFill>
                <a:latin typeface="Microsoft YaHei"/>
              </a:rPr>
              <a:t>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6048" y="2615184"/>
            <a:ext cx="1600200" cy="7680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2761488"/>
            <a:ext cx="141732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C2682C"/>
                </a:solidFill>
                <a:latin typeface="Microsoft YaHei"/>
              </a:rPr>
              <a:t>审批驳回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3054096"/>
            <a:ext cx="1417320" cy="1645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96159"/>
                </a:solidFill>
                <a:latin typeface="Microsoft YaHei"/>
              </a:rPr>
              <a:t>rejected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977639"/>
            <a:ext cx="1600200" cy="7680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123944"/>
            <a:ext cx="141732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C2682C"/>
                </a:solidFill>
                <a:latin typeface="Microsoft YaHei"/>
              </a:rPr>
              <a:t>申请撤回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416552"/>
            <a:ext cx="1417320" cy="16459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96159"/>
                </a:solidFill>
                <a:latin typeface="Microsoft YaHei"/>
              </a:rPr>
              <a:t>revoked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41448" y="2350008"/>
            <a:ext cx="393192" cy="0"/>
          </a:xfrm>
          <a:prstGeom prst="line">
            <a:avLst/>
          </a:prstGeom>
          <a:ln w="25400"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434840" y="1700784"/>
            <a:ext cx="521208" cy="649224"/>
          </a:xfrm>
          <a:prstGeom prst="line">
            <a:avLst/>
          </a:prstGeom>
          <a:ln w="25400"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840" y="2350008"/>
            <a:ext cx="521208" cy="640080"/>
          </a:xfrm>
          <a:prstGeom prst="line">
            <a:avLst/>
          </a:prstGeom>
          <a:ln w="25400"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11880" y="2734056"/>
            <a:ext cx="0" cy="1243583"/>
          </a:xfrm>
          <a:prstGeom prst="line">
            <a:avLst/>
          </a:prstGeom>
          <a:ln w="25400"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0" y="1572768"/>
            <a:ext cx="3886200" cy="3611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1" y="1810512"/>
            <a:ext cx="338328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581427"/>
                </a:solidFill>
                <a:latin typeface="Microsoft YaHei"/>
              </a:rPr>
              <a:t>后端约束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2377439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2331720"/>
            <a:ext cx="295351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状态只能由审批接口驱动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07808" y="2816351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0416" y="2770632"/>
            <a:ext cx="295351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非法流转返回 40900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07808" y="3255263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0416" y="3209544"/>
            <a:ext cx="295351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状态更新 + 审批记录同事务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07808" y="3694176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0416" y="3648456"/>
            <a:ext cx="295351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管理老师按班级数据范围审批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07808" y="4133087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0416" y="4087368"/>
            <a:ext cx="295351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越权、重复审批均有测试覆盖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用户体验：学生端轻量办理，管理端高效处理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074920" cy="4343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664208"/>
            <a:ext cx="5074920" cy="4343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4297680" cy="31089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学生端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938528"/>
            <a:ext cx="4297680" cy="31089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管理端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679191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633472"/>
            <a:ext cx="39136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首页聚合待办、通知、党团阶段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118103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2384"/>
            <a:ext cx="39136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知识库提问展示来源与置信度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557015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511296"/>
            <a:ext cx="39136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申请、通知、材料提交集中办理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995928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50208"/>
            <a:ext cx="39136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优先适配移动端与窄屏场景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8" y="2679191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633472"/>
            <a:ext cx="39136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侧边栏组织多业务模块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3408" y="3118103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3072384"/>
            <a:ext cx="39136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列表支持筛选、分页、状态标签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93408" y="3557015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3511296"/>
            <a:ext cx="39136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审批与敏感信息强调留痕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3408" y="3995928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950208"/>
            <a:ext cx="391363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优先满足 PC 批量管理效率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03520"/>
            <a:ext cx="4297680" cy="2286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8956"/>
                </a:solidFill>
                <a:latin typeface="Microsoft YaHei"/>
              </a:rPr>
              <a:t>少操作、快办理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5303520"/>
            <a:ext cx="4297680" cy="2286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06997"/>
                </a:solidFill>
                <a:latin typeface="Microsoft YaHei"/>
              </a:rPr>
              <a:t>高密度、可追踪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进度安排：文档先行，逐步推进到全栈 MVP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24128" y="3246120"/>
            <a:ext cx="9720072" cy="0"/>
          </a:xfrm>
          <a:prstGeom prst="line">
            <a:avLst/>
          </a:prstGeom>
          <a:ln>
            <a:solidFill>
              <a:srgbClr val="B88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68680" y="3099815"/>
            <a:ext cx="292608" cy="292608"/>
          </a:xfrm>
          <a:prstGeom prst="ellipse">
            <a:avLst/>
          </a:prstGeom>
          <a:solidFill>
            <a:srgbClr val="7D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777240" cy="21945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81427"/>
                </a:solidFill>
                <a:latin typeface="Microsoft YaHei"/>
              </a:rPr>
              <a:t>04/19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2697480"/>
            <a:ext cx="1325880" cy="53035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需求整理
静态 Web 原型</a:t>
            </a:r>
          </a:p>
        </p:txBody>
      </p:sp>
      <p:sp>
        <p:nvSpPr>
          <p:cNvPr id="12" name="Oval 11"/>
          <p:cNvSpPr/>
          <p:nvPr/>
        </p:nvSpPr>
        <p:spPr>
          <a:xfrm>
            <a:off x="2496312" y="3099815"/>
            <a:ext cx="292608" cy="292608"/>
          </a:xfrm>
          <a:prstGeom prst="ellipse">
            <a:avLst/>
          </a:prstGeom>
          <a:solidFill>
            <a:srgbClr val="B8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3675887"/>
            <a:ext cx="777240" cy="21945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81427"/>
                </a:solidFill>
                <a:latin typeface="Microsoft YaHei"/>
              </a:rPr>
              <a:t>05/07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1" y="3950208"/>
            <a:ext cx="1325880" cy="53035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小程序
学生端演示</a:t>
            </a:r>
          </a:p>
        </p:txBody>
      </p:sp>
      <p:sp>
        <p:nvSpPr>
          <p:cNvPr id="15" name="Oval 14"/>
          <p:cNvSpPr/>
          <p:nvPr/>
        </p:nvSpPr>
        <p:spPr>
          <a:xfrm>
            <a:off x="4123944" y="3099815"/>
            <a:ext cx="292608" cy="292608"/>
          </a:xfrm>
          <a:prstGeom prst="ellipse">
            <a:avLst/>
          </a:prstGeom>
          <a:solidFill>
            <a:srgbClr val="B8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423160"/>
            <a:ext cx="777240" cy="21945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81427"/>
                </a:solidFill>
                <a:latin typeface="Microsoft YaHei"/>
              </a:rPr>
              <a:t>05/11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697480"/>
            <a:ext cx="1325880" cy="53035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软件设计
文档完成</a:t>
            </a:r>
          </a:p>
        </p:txBody>
      </p:sp>
      <p:sp>
        <p:nvSpPr>
          <p:cNvPr id="18" name="Oval 17"/>
          <p:cNvSpPr/>
          <p:nvPr/>
        </p:nvSpPr>
        <p:spPr>
          <a:xfrm>
            <a:off x="5751576" y="3099815"/>
            <a:ext cx="292608" cy="292608"/>
          </a:xfrm>
          <a:prstGeom prst="ellipse">
            <a:avLst/>
          </a:prstGeom>
          <a:solidFill>
            <a:srgbClr val="7D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2976" y="3675887"/>
            <a:ext cx="777240" cy="21945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81427"/>
                </a:solidFill>
                <a:latin typeface="Microsoft YaHei"/>
              </a:rPr>
              <a:t>05/18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3950208"/>
            <a:ext cx="1325880" cy="53035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Vue 前端
Spring 后端</a:t>
            </a:r>
          </a:p>
        </p:txBody>
      </p:sp>
      <p:sp>
        <p:nvSpPr>
          <p:cNvPr id="21" name="Oval 20"/>
          <p:cNvSpPr/>
          <p:nvPr/>
        </p:nvSpPr>
        <p:spPr>
          <a:xfrm>
            <a:off x="7379208" y="3099815"/>
            <a:ext cx="292608" cy="292608"/>
          </a:xfrm>
          <a:prstGeom prst="ellipse">
            <a:avLst/>
          </a:prstGeom>
          <a:solidFill>
            <a:srgbClr val="B8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8" y="2423160"/>
            <a:ext cx="777240" cy="21945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81427"/>
                </a:solidFill>
                <a:latin typeface="Microsoft YaHei"/>
              </a:rPr>
              <a:t>05/27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697480"/>
            <a:ext cx="1325880" cy="53035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注册改密
画像维护</a:t>
            </a:r>
          </a:p>
        </p:txBody>
      </p:sp>
      <p:sp>
        <p:nvSpPr>
          <p:cNvPr id="24" name="Oval 23"/>
          <p:cNvSpPr/>
          <p:nvPr/>
        </p:nvSpPr>
        <p:spPr>
          <a:xfrm>
            <a:off x="9006840" y="3099815"/>
            <a:ext cx="292608" cy="292608"/>
          </a:xfrm>
          <a:prstGeom prst="ellipse">
            <a:avLst/>
          </a:prstGeom>
          <a:solidFill>
            <a:srgbClr val="B8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3675887"/>
            <a:ext cx="777240" cy="21945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81427"/>
                </a:solidFill>
                <a:latin typeface="Microsoft YaHei"/>
              </a:rPr>
              <a:t>05/28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3950208"/>
            <a:ext cx="1325880" cy="53035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申请提交
数据范围修复</a:t>
            </a:r>
          </a:p>
        </p:txBody>
      </p:sp>
      <p:sp>
        <p:nvSpPr>
          <p:cNvPr id="27" name="Oval 26"/>
          <p:cNvSpPr/>
          <p:nvPr/>
        </p:nvSpPr>
        <p:spPr>
          <a:xfrm>
            <a:off x="10634472" y="3099815"/>
            <a:ext cx="292608" cy="292608"/>
          </a:xfrm>
          <a:prstGeom prst="ellipse">
            <a:avLst/>
          </a:prstGeom>
          <a:solidFill>
            <a:srgbClr val="7D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2423160"/>
            <a:ext cx="777240" cy="21945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81427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1551" y="2697480"/>
            <a:ext cx="1325880" cy="53035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A2724"/>
                </a:solidFill>
                <a:latin typeface="Microsoft YaHei"/>
              </a:rPr>
              <a:t>RAG 问答
测试与部署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5285232"/>
            <a:ext cx="9966960" cy="530352"/>
          </a:xfrm>
          <a:prstGeom prst="roundRect">
            <a:avLst/>
          </a:prstGeom>
          <a:solidFill>
            <a:srgbClr val="FFFAEF"/>
          </a:solidFill>
          <a:ln w="12700">
            <a:solidFill>
              <a:srgbClr val="E6D9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413248"/>
            <a:ext cx="95097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581427"/>
                </a:solidFill>
                <a:latin typeface="Microsoft YaHei"/>
              </a:rPr>
              <a:t>实际结果：从原型与文档交付，扩展为正式前端工程、后端 MVP、自动化测试和部署脚本。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团队协作：按模块推进，用文档和测试收口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00784"/>
            <a:ext cx="2578608" cy="12435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2212848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孙谦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86000"/>
            <a:ext cx="2139696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A2724"/>
                </a:solidFill>
                <a:latin typeface="Microsoft YaHei"/>
              </a:rPr>
              <a:t>整体推进 / 后端接口 / RAG / 测试验证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700784"/>
            <a:ext cx="2578608" cy="12435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901952"/>
            <a:ext cx="2212848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田家铭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2286000"/>
            <a:ext cx="2139696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A2724"/>
                </a:solidFill>
                <a:latin typeface="Microsoft YaHei"/>
              </a:rPr>
              <a:t>部署运行 / 脚本 / 环境验证 / 联调支持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00784"/>
            <a:ext cx="2578608" cy="12435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01952"/>
            <a:ext cx="2212848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刘凡硕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286000"/>
            <a:ext cx="2139696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A2724"/>
                </a:solidFill>
                <a:latin typeface="Microsoft YaHei"/>
              </a:rPr>
              <a:t>软件设计文档 / 小程序 / 需求整理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9408" y="1700784"/>
            <a:ext cx="2578608" cy="12435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1901952"/>
            <a:ext cx="2212848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林靖涛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2286000"/>
            <a:ext cx="2139696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A2724"/>
                </a:solidFill>
                <a:latin typeface="Microsoft YaHei"/>
              </a:rPr>
              <a:t>前端完善 / 测试用例 / 缺陷验证 / 汇报支持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694176"/>
            <a:ext cx="10241280" cy="15087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3913632"/>
            <a:ext cx="9646920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581427"/>
                </a:solidFill>
                <a:latin typeface="Microsoft YaHei"/>
              </a:rPr>
              <a:t>协作工具与流程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0432" y="4453128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07408"/>
            <a:ext cx="894283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Git/GitHub 管理代码与版本记录；docs/ 沉淀架构、接口、数据库、权限与字典约束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892040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846320"/>
            <a:ext cx="894283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developer-diary 与 problems-track 记录阶段迭代、问题反馈和修复点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开发过程亮点：工程化、权限化、可部署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645920"/>
            <a:ext cx="10469880" cy="7863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1874519"/>
            <a:ext cx="1298448" cy="274320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工程化前端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883664"/>
            <a:ext cx="8046720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路由守卫、Pinia 登录态、API client、通用组件、mock 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2606040"/>
            <a:ext cx="10469880" cy="7863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" y="2834640"/>
            <a:ext cx="1298448" cy="274320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后端基础设施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843784"/>
            <a:ext cx="8046720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统一响应、requestId、异常处理、鉴权过滤器、H2 初始化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566160"/>
            <a:ext cx="10469880" cy="7863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4128" y="3794760"/>
            <a:ext cx="1298448" cy="274320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权限与数据范围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803904"/>
            <a:ext cx="8046720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学生本人、班级范围、管理角色、学院领导范围分层控制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4526280"/>
            <a:ext cx="10469880" cy="7863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4754880"/>
            <a:ext cx="1298448" cy="274320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部署交付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764024"/>
            <a:ext cx="8046720" cy="237744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2724"/>
                </a:solidFill>
                <a:latin typeface="Microsoft YaHei"/>
              </a:rPr>
              <a:t>运行包、Nginx、systemd、校园网一键脚本、状态检查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测试结果：自动化验证通过，核心风险有覆盖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700784"/>
            <a:ext cx="2057400" cy="1371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1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847088"/>
            <a:ext cx="1728216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7D1C37"/>
                </a:solidFill>
                <a:latin typeface="Microsoft YaHei"/>
              </a:rPr>
              <a:t>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04872"/>
            <a:ext cx="1728216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A2724"/>
                </a:solidFill>
                <a:latin typeface="Microsoft YaHei"/>
              </a:rPr>
              <a:t>后端测试用例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715768"/>
            <a:ext cx="1728216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96159"/>
                </a:solidFill>
                <a:latin typeface="Microsoft YaHei"/>
              </a:rPr>
              <a:t>JUnit / Spring Boot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700784"/>
            <a:ext cx="2057400" cy="1371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1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847088"/>
            <a:ext cx="1728216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06997"/>
                </a:solidFill>
                <a:latin typeface="Microsoft YaHe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404872"/>
            <a:ext cx="1728216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A2724"/>
                </a:solidFill>
                <a:latin typeface="Microsoft YaHei"/>
              </a:rPr>
              <a:t>Surefire 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715768"/>
            <a:ext cx="1728216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96159"/>
                </a:solidFill>
                <a:latin typeface="Microsoft YaHei"/>
              </a:rPr>
              <a:t>模块测试与集成测试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7568" y="1700784"/>
            <a:ext cx="2057400" cy="1371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1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59" y="1847088"/>
            <a:ext cx="1728216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E8956"/>
                </a:solidFill>
                <a:latin typeface="Microsoft YaHe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404872"/>
            <a:ext cx="1728216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A2724"/>
                </a:solidFill>
                <a:latin typeface="Microsoft YaHei"/>
              </a:rPr>
              <a:t>failures /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2715768"/>
            <a:ext cx="1728216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96159"/>
                </a:solidFill>
                <a:latin typeface="Microsoft YaHei"/>
              </a:rPr>
              <a:t>无失败、无错误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1700784"/>
            <a:ext cx="2057400" cy="1371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1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47088"/>
            <a:ext cx="1728216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B88536"/>
                </a:solidFill>
                <a:latin typeface="Microsoft YaHei"/>
              </a:rP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404872"/>
            <a:ext cx="1728216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A2724"/>
                </a:solidFill>
                <a:latin typeface="Microsoft YaHei"/>
              </a:rPr>
              <a:t>前端构建与测试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715768"/>
            <a:ext cx="1728216" cy="256032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96159"/>
                </a:solidFill>
                <a:latin typeface="Microsoft YaHei"/>
              </a:rPr>
              <a:t>Vite build / kbQa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3657600"/>
            <a:ext cx="5074920" cy="16916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895344"/>
            <a:ext cx="452628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覆盖重点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" y="4389120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4343400"/>
            <a:ext cx="409651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认证、仪表盘、学生画像、党团、通知、申请、文件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5568" y="4828032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782312"/>
            <a:ext cx="409651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知识库、RAG 客户端、荣誉展示、数据范围和异常分支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657600"/>
            <a:ext cx="4617720" cy="16916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95344"/>
            <a:ext cx="406908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1427"/>
                </a:solidFill>
                <a:latin typeface="Microsoft YaHei"/>
              </a:rPr>
              <a:t>典型修复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5392" y="4389120"/>
            <a:ext cx="164592" cy="164592"/>
          </a:xfrm>
          <a:prstGeom prst="roundRect">
            <a:avLst/>
          </a:prstGeom>
          <a:solidFill>
            <a:srgbClr val="C2682C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343400"/>
            <a:ext cx="359359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审批列表 SQL 字段歧义与班级过滤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5392" y="4828032"/>
            <a:ext cx="164592" cy="164592"/>
          </a:xfrm>
          <a:prstGeom prst="roundRect">
            <a:avLst/>
          </a:prstGeom>
          <a:solidFill>
            <a:srgbClr val="C2682C"/>
          </a:solidFill>
          <a:ln w="12700">
            <a:solidFill>
              <a:srgbClr val="C26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82312"/>
            <a:ext cx="359359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A2724"/>
                </a:solidFill>
                <a:latin typeface="Microsoft YaHei"/>
              </a:rPr>
              <a:t>知识库详情、申请提交、老师上传权限、RAG 降级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工具使用：大模型加速，但关键规则人工把关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27632"/>
            <a:ext cx="4983480" cy="4069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7648" y="1627632"/>
            <a:ext cx="4983480" cy="4069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883664"/>
            <a:ext cx="434340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581427"/>
                </a:solidFill>
                <a:latin typeface="Microsoft YaHei"/>
              </a:rPr>
              <a:t>大模型主要用途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144" y="2404872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359152"/>
            <a:ext cx="395935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需求提取、用户故事和接口草案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52144" y="2843784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798064"/>
            <a:ext cx="395935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Vue 页面、DTO、Service、测试骨架生成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2144" y="3282696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236976"/>
            <a:ext cx="395935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SQL / 构建 / 权限问题调试分析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" y="3721607"/>
            <a:ext cx="164592" cy="16459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675887"/>
            <a:ext cx="395935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README、接口说明、部署说明、结项材料整理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1883664"/>
            <a:ext cx="434340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581427"/>
                </a:solidFill>
                <a:latin typeface="Microsoft YaHei"/>
              </a:rPr>
              <a:t>人工把关边界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6832" y="2404872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359152"/>
            <a:ext cx="395935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权限、状态机、数据范围必须人工确认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56832" y="2843784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98064"/>
            <a:ext cx="395935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生成字段和接口必须对照仓库实际代码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56832" y="3282696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236976"/>
            <a:ext cx="395935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代码需要运行测试和构建验证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3721607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75887"/>
            <a:ext cx="3959352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团队分工、验收口径需按真实情况调整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20040"/>
            <a:ext cx="1234440" cy="292608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8229600" cy="475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581427"/>
                </a:solidFill>
                <a:latin typeface="Microsoft YaHei"/>
              </a:rPr>
              <a:t>总结与后续计划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98448"/>
            <a:ext cx="10469880" cy="0"/>
          </a:xfrm>
          <a:prstGeom prst="line">
            <a:avLst/>
          </a:prstGeom>
          <a:ln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>
            <a:solidFill>
              <a:srgbClr val="E2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640080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96159"/>
                </a:solidFill>
                <a:latin typeface="Microsoft YaHei"/>
              </a:rPr>
              <a:t>学院学生综合服务与党团管理平台 · 结项汇报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20116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1C37"/>
                </a:solidFill>
                <a:latin typeface="Microsoft Ya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627632"/>
            <a:ext cx="5074920" cy="44074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1627632"/>
            <a:ext cx="5074920" cy="44074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2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883664"/>
            <a:ext cx="452628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本次结项成果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2441448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395728"/>
            <a:ext cx="405079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完成从需求、设计、原型到全栈 MVP 的闭环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2880360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34640"/>
            <a:ext cx="405079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学生端、管理端、后端接口和测试体系均可展示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319272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273552"/>
            <a:ext cx="405079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核心流程：登录、知识库问答、党团材料、通知、申请审批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" y="3758184"/>
            <a:ext cx="164592" cy="164592"/>
          </a:xfrm>
          <a:prstGeom prst="roundRect">
            <a:avLst/>
          </a:prstGeom>
          <a:solidFill>
            <a:srgbClr val="2E8956"/>
          </a:solidFill>
          <a:ln w="12700">
            <a:solidFill>
              <a:srgbClr val="2E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12464"/>
            <a:ext cx="405079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用自动化测试和部署脚本提升验收稳定性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1883664"/>
            <a:ext cx="4526280" cy="29260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581427"/>
                </a:solidFill>
                <a:latin typeface="Microsoft YaHei"/>
              </a:rPr>
              <a:t>后续增强方向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2441448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395728"/>
            <a:ext cx="405079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迁移 Kingbase 生产数据库并补迁移脚本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2880360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834640"/>
            <a:ext cx="405079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完善知识库版本管理、通知真实渠道和日志自动落库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3319272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73552"/>
            <a:ext cx="405079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补浏览器 E2E、小程序接口联调和依赖安全治理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5392" y="3758184"/>
            <a:ext cx="164592" cy="164592"/>
          </a:xfrm>
          <a:prstGeom prst="roundRect">
            <a:avLst/>
          </a:prstGeom>
          <a:solidFill>
            <a:srgbClr val="30699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712464"/>
            <a:ext cx="4050791" cy="3840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A2724"/>
                </a:solidFill>
                <a:latin typeface="Microsoft YaHei"/>
              </a:rPr>
              <a:t>完善生产部署：HTTPS、备份、日志轮转、文件存储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6199632"/>
            <a:ext cx="5074920" cy="347472"/>
          </a:xfrm>
          <a:prstGeom prst="roundRect">
            <a:avLst/>
          </a:prstGeom>
          <a:solidFill>
            <a:srgbClr val="7D1C37"/>
          </a:solidFill>
          <a:ln w="12700">
            <a:solidFill>
              <a:srgbClr val="7D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谢谢，请老师和同学批评指正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